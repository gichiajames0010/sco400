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iqbCtop6AeGfhcHQMBUYdiqiJN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 morning. My name is James Gichia. Today, I will present my final year project: Firewall Rule Optimizer, a tool designed to improve firewall efficiency and security.</a:t>
            </a:r>
            <a:endParaRPr/>
          </a:p>
        </p:txBody>
      </p:sp>
      <p:sp>
        <p:nvSpPr>
          <p:cNvPr id="133" name="Google Shape;13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Complex firewall rules can slow networks and create hidden vulnerabilities. My project automates the detection and correction of these issues.</a:t>
            </a:r>
            <a:endParaRPr/>
          </a:p>
        </p:txBody>
      </p:sp>
      <p:sp>
        <p:nvSpPr>
          <p:cNvPr id="140" name="Google Shape;14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main objectives are to improve firewall performance and security while simplifying management for administrators.</a:t>
            </a:r>
            <a:endParaRPr/>
          </a:p>
        </p:txBody>
      </p:sp>
      <p:sp>
        <p:nvSpPr>
          <p:cNvPr id="147" name="Google Shape;14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problem affects both network performance and security, motivating the development of an automated optimizer.</a:t>
            </a:r>
            <a:endParaRPr/>
          </a:p>
        </p:txBody>
      </p:sp>
      <p:sp>
        <p:nvSpPr>
          <p:cNvPr id="154" name="Google Shape;15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 solutions are either commercial or too complex. This project provides a simpler, cost-effective alternative for small to medium networks.</a:t>
            </a:r>
            <a:endParaRPr/>
          </a:p>
        </p:txBody>
      </p:sp>
      <p:sp>
        <p:nvSpPr>
          <p:cNvPr id="161" name="Google Shape;16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methodology ensures accurate analysis, safe optimization, and clear reporting for administrators.</a:t>
            </a:r>
            <a:endParaRPr/>
          </a:p>
        </p:txBody>
      </p:sp>
      <p:sp>
        <p:nvSpPr>
          <p:cNvPr id="168" name="Google Shape;16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summary, this project provides a practical, automated tool to optimize firewall rules and enhance network security.</a:t>
            </a:r>
            <a:endParaRPr/>
          </a:p>
        </p:txBody>
      </p:sp>
      <p:sp>
        <p:nvSpPr>
          <p:cNvPr id="175" name="Google Shape;17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references include academic papers, books, and industry resources that guided the design and implementation of this project.</a:t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f5caa091_0_749"/>
          <p:cNvSpPr/>
          <p:nvPr/>
        </p:nvSpPr>
        <p:spPr>
          <a:xfrm rot="5400000">
            <a:off x="7226400" y="274573"/>
            <a:ext cx="21915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90f5caa091_0_749"/>
          <p:cNvGrpSpPr/>
          <p:nvPr/>
        </p:nvGrpSpPr>
        <p:grpSpPr>
          <a:xfrm>
            <a:off x="0" y="654"/>
            <a:ext cx="5153705" cy="6845694"/>
            <a:chOff x="0" y="75"/>
            <a:chExt cx="5153705" cy="5152950"/>
          </a:xfrm>
        </p:grpSpPr>
        <p:sp>
          <p:nvSpPr>
            <p:cNvPr id="12" name="Google Shape;12;g390f5caa091_0_749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90f5caa091_0_749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g390f5caa091_0_749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g390f5caa091_0_749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g390f5caa091_0_749"/>
          <p:cNvSpPr txBox="1"/>
          <p:nvPr>
            <p:ph type="ctrTitle"/>
          </p:nvPr>
        </p:nvSpPr>
        <p:spPr>
          <a:xfrm>
            <a:off x="3537150" y="2104533"/>
            <a:ext cx="5017500" cy="21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g390f5caa091_0_749"/>
          <p:cNvSpPr txBox="1"/>
          <p:nvPr>
            <p:ph idx="1" type="subTitle"/>
          </p:nvPr>
        </p:nvSpPr>
        <p:spPr>
          <a:xfrm>
            <a:off x="5083950" y="5233233"/>
            <a:ext cx="34707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g390f5caa091_0_7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g390f5caa091_0_759"/>
          <p:cNvGrpSpPr/>
          <p:nvPr/>
        </p:nvGrpSpPr>
        <p:grpSpPr>
          <a:xfrm>
            <a:off x="4406400" y="0"/>
            <a:ext cx="4737600" cy="6857248"/>
            <a:chOff x="4406400" y="0"/>
            <a:chExt cx="4737600" cy="5143065"/>
          </a:xfrm>
        </p:grpSpPr>
        <p:sp>
          <p:nvSpPr>
            <p:cNvPr id="21" name="Google Shape;21;g390f5caa091_0_759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g390f5caa091_0_759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g390f5caa091_0_759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90f5caa091_0_759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g390f5caa091_0_759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g390f5caa091_0_759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90f5caa091_0_759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g390f5caa091_0_759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g390f5caa091_0_759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g390f5caa091_0_759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90f5caa091_0_759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90f5caa091_0_759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g390f5caa091_0_759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g390f5caa091_0_759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90f5caa091_0_759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g390f5caa091_0_759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g390f5caa091_0_759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g390f5caa091_0_759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g390f5caa091_0_759"/>
          <p:cNvSpPr txBox="1"/>
          <p:nvPr>
            <p:ph type="title"/>
          </p:nvPr>
        </p:nvSpPr>
        <p:spPr>
          <a:xfrm>
            <a:off x="823850" y="2737333"/>
            <a:ext cx="4587000" cy="15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g390f5caa091_0_75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g390f5caa091_0_781"/>
          <p:cNvGrpSpPr/>
          <p:nvPr/>
        </p:nvGrpSpPr>
        <p:grpSpPr>
          <a:xfrm>
            <a:off x="0" y="507989"/>
            <a:ext cx="1037850" cy="1355016"/>
            <a:chOff x="0" y="381001"/>
            <a:chExt cx="1037850" cy="1016287"/>
          </a:xfrm>
        </p:grpSpPr>
        <p:sp>
          <p:nvSpPr>
            <p:cNvPr id="43" name="Google Shape;43;g390f5caa091_0_78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90f5caa091_0_78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90f5caa091_0_781"/>
          <p:cNvSpPr txBox="1"/>
          <p:nvPr>
            <p:ph type="title"/>
          </p:nvPr>
        </p:nvSpPr>
        <p:spPr>
          <a:xfrm>
            <a:off x="1297500" y="525000"/>
            <a:ext cx="70389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g390f5caa091_0_781"/>
          <p:cNvSpPr txBox="1"/>
          <p:nvPr>
            <p:ph idx="1" type="body"/>
          </p:nvPr>
        </p:nvSpPr>
        <p:spPr>
          <a:xfrm>
            <a:off x="1297500" y="2090067"/>
            <a:ext cx="7038900" cy="3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g390f5caa091_0_78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g390f5caa091_0_788"/>
          <p:cNvGrpSpPr/>
          <p:nvPr/>
        </p:nvGrpSpPr>
        <p:grpSpPr>
          <a:xfrm>
            <a:off x="0" y="507989"/>
            <a:ext cx="1037850" cy="1355016"/>
            <a:chOff x="0" y="381001"/>
            <a:chExt cx="1037850" cy="1016287"/>
          </a:xfrm>
        </p:grpSpPr>
        <p:sp>
          <p:nvSpPr>
            <p:cNvPr id="50" name="Google Shape;50;g390f5caa091_0_78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90f5caa091_0_78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90f5caa091_0_788"/>
          <p:cNvSpPr txBox="1"/>
          <p:nvPr>
            <p:ph type="title"/>
          </p:nvPr>
        </p:nvSpPr>
        <p:spPr>
          <a:xfrm>
            <a:off x="1297500" y="525000"/>
            <a:ext cx="70389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g390f5caa091_0_788"/>
          <p:cNvSpPr txBox="1"/>
          <p:nvPr>
            <p:ph idx="1" type="body"/>
          </p:nvPr>
        </p:nvSpPr>
        <p:spPr>
          <a:xfrm>
            <a:off x="1297500" y="2090067"/>
            <a:ext cx="3403200" cy="3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g390f5caa091_0_788"/>
          <p:cNvSpPr txBox="1"/>
          <p:nvPr>
            <p:ph idx="2" type="body"/>
          </p:nvPr>
        </p:nvSpPr>
        <p:spPr>
          <a:xfrm>
            <a:off x="4933221" y="2090067"/>
            <a:ext cx="3403200" cy="3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g390f5caa091_0_78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g390f5caa091_0_796"/>
          <p:cNvGrpSpPr/>
          <p:nvPr/>
        </p:nvGrpSpPr>
        <p:grpSpPr>
          <a:xfrm>
            <a:off x="0" y="507989"/>
            <a:ext cx="1037850" cy="1355016"/>
            <a:chOff x="0" y="381001"/>
            <a:chExt cx="1037850" cy="1016287"/>
          </a:xfrm>
        </p:grpSpPr>
        <p:sp>
          <p:nvSpPr>
            <p:cNvPr id="58" name="Google Shape;58;g390f5caa091_0_79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g390f5caa091_0_79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g390f5caa091_0_796"/>
          <p:cNvSpPr txBox="1"/>
          <p:nvPr>
            <p:ph type="title"/>
          </p:nvPr>
        </p:nvSpPr>
        <p:spPr>
          <a:xfrm>
            <a:off x="1297500" y="525000"/>
            <a:ext cx="70389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g390f5caa091_0_79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g390f5caa091_0_802"/>
          <p:cNvGrpSpPr/>
          <p:nvPr/>
        </p:nvGrpSpPr>
        <p:grpSpPr>
          <a:xfrm>
            <a:off x="0" y="507989"/>
            <a:ext cx="1037850" cy="1355016"/>
            <a:chOff x="0" y="381001"/>
            <a:chExt cx="1037850" cy="1016287"/>
          </a:xfrm>
        </p:grpSpPr>
        <p:sp>
          <p:nvSpPr>
            <p:cNvPr id="64" name="Google Shape;64;g390f5caa091_0_80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90f5caa091_0_80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90f5caa091_0_802"/>
          <p:cNvSpPr txBox="1"/>
          <p:nvPr>
            <p:ph type="title"/>
          </p:nvPr>
        </p:nvSpPr>
        <p:spPr>
          <a:xfrm>
            <a:off x="1297500" y="525000"/>
            <a:ext cx="3798900" cy="19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g390f5caa091_0_802"/>
          <p:cNvSpPr txBox="1"/>
          <p:nvPr>
            <p:ph idx="1" type="body"/>
          </p:nvPr>
        </p:nvSpPr>
        <p:spPr>
          <a:xfrm>
            <a:off x="1297500" y="2630067"/>
            <a:ext cx="3798900" cy="32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g390f5caa091_0_80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g390f5caa091_0_809"/>
          <p:cNvGrpSpPr/>
          <p:nvPr/>
        </p:nvGrpSpPr>
        <p:grpSpPr>
          <a:xfrm>
            <a:off x="4406400" y="0"/>
            <a:ext cx="4737600" cy="6857829"/>
            <a:chOff x="4406400" y="0"/>
            <a:chExt cx="4737600" cy="5143500"/>
          </a:xfrm>
        </p:grpSpPr>
        <p:sp>
          <p:nvSpPr>
            <p:cNvPr id="71" name="Google Shape;71;g390f5caa091_0_809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g390f5caa091_0_809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g390f5caa091_0_809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g390f5caa091_0_809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g390f5caa091_0_809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90f5caa091_0_809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g390f5caa091_0_809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g390f5caa091_0_809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g390f5caa091_0_809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g390f5caa091_0_809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g390f5caa091_0_809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g390f5caa091_0_809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g390f5caa091_0_809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g390f5caa091_0_809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g390f5caa091_0_809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g390f5caa091_0_809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g390f5caa091_0_809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g390f5caa091_0_809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g390f5caa091_0_809"/>
          <p:cNvSpPr txBox="1"/>
          <p:nvPr>
            <p:ph type="title"/>
          </p:nvPr>
        </p:nvSpPr>
        <p:spPr>
          <a:xfrm>
            <a:off x="823850" y="1155700"/>
            <a:ext cx="4587000" cy="469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g390f5caa091_0_80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90f5caa091_0_831"/>
          <p:cNvGrpSpPr/>
          <p:nvPr/>
        </p:nvGrpSpPr>
        <p:grpSpPr>
          <a:xfrm>
            <a:off x="0" y="507989"/>
            <a:ext cx="1037850" cy="1355016"/>
            <a:chOff x="0" y="381001"/>
            <a:chExt cx="1037850" cy="1016287"/>
          </a:xfrm>
        </p:grpSpPr>
        <p:sp>
          <p:nvSpPr>
            <p:cNvPr id="93" name="Google Shape;93;g390f5caa091_0_83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g390f5caa091_0_83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g390f5caa091_0_831"/>
          <p:cNvSpPr txBox="1"/>
          <p:nvPr>
            <p:ph type="title"/>
          </p:nvPr>
        </p:nvSpPr>
        <p:spPr>
          <a:xfrm>
            <a:off x="1297500" y="2211100"/>
            <a:ext cx="3036300" cy="23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g390f5caa091_0_831"/>
          <p:cNvSpPr txBox="1"/>
          <p:nvPr>
            <p:ph idx="1" type="subTitle"/>
          </p:nvPr>
        </p:nvSpPr>
        <p:spPr>
          <a:xfrm>
            <a:off x="1297500" y="4717333"/>
            <a:ext cx="30363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g390f5caa091_0_831"/>
          <p:cNvSpPr txBox="1"/>
          <p:nvPr>
            <p:ph idx="2" type="body"/>
          </p:nvPr>
        </p:nvSpPr>
        <p:spPr>
          <a:xfrm>
            <a:off x="4648200" y="2262133"/>
            <a:ext cx="3676800" cy="31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g390f5caa091_0_8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g390f5caa091_0_839"/>
          <p:cNvGrpSpPr/>
          <p:nvPr/>
        </p:nvGrpSpPr>
        <p:grpSpPr>
          <a:xfrm>
            <a:off x="0" y="5504636"/>
            <a:ext cx="698925" cy="912853"/>
            <a:chOff x="0" y="3785672"/>
            <a:chExt cx="698925" cy="684657"/>
          </a:xfrm>
        </p:grpSpPr>
        <p:sp>
          <p:nvSpPr>
            <p:cNvPr id="101" name="Google Shape;101;g390f5caa091_0_839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g390f5caa091_0_839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g390f5caa091_0_839"/>
          <p:cNvSpPr txBox="1"/>
          <p:nvPr>
            <p:ph idx="1" type="body"/>
          </p:nvPr>
        </p:nvSpPr>
        <p:spPr>
          <a:xfrm>
            <a:off x="812725" y="5740500"/>
            <a:ext cx="6936000" cy="6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g390f5caa091_0_8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g390f5caa091_0_845"/>
          <p:cNvGrpSpPr/>
          <p:nvPr/>
        </p:nvGrpSpPr>
        <p:grpSpPr>
          <a:xfrm>
            <a:off x="4406400" y="0"/>
            <a:ext cx="4737600" cy="6857248"/>
            <a:chOff x="4406400" y="0"/>
            <a:chExt cx="4737600" cy="5143065"/>
          </a:xfrm>
        </p:grpSpPr>
        <p:sp>
          <p:nvSpPr>
            <p:cNvPr id="107" name="Google Shape;107;g390f5caa091_0_845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g390f5caa091_0_845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g390f5caa091_0_845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g390f5caa091_0_845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g390f5caa091_0_84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g390f5caa091_0_845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g390f5caa091_0_845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g390f5caa091_0_845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g390f5caa091_0_84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g390f5caa091_0_845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g390f5caa091_0_845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g390f5caa091_0_845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g390f5caa091_0_845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g390f5caa091_0_845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g390f5caa091_0_84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g390f5caa091_0_845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g390f5caa091_0_845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g390f5caa091_0_845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g390f5caa091_0_845"/>
          <p:cNvSpPr txBox="1"/>
          <p:nvPr>
            <p:ph hasCustomPrompt="1" type="title"/>
          </p:nvPr>
        </p:nvSpPr>
        <p:spPr>
          <a:xfrm>
            <a:off x="823850" y="1712900"/>
            <a:ext cx="47760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g390f5caa091_0_845"/>
          <p:cNvSpPr txBox="1"/>
          <p:nvPr>
            <p:ph idx="1" type="body"/>
          </p:nvPr>
        </p:nvSpPr>
        <p:spPr>
          <a:xfrm>
            <a:off x="823850" y="3524166"/>
            <a:ext cx="4776000" cy="16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g390f5caa091_0_8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0f5caa091_0_86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f5caa091_0_74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g390f5caa091_0_74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90f5caa091_0_7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firemon.com" TargetMode="External"/><Relationship Id="rId4" Type="http://schemas.openxmlformats.org/officeDocument/2006/relationships/hyperlink" Target="https://www.algosec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"/>
          <p:cNvSpPr txBox="1"/>
          <p:nvPr>
            <p:ph type="title"/>
          </p:nvPr>
        </p:nvSpPr>
        <p:spPr>
          <a:xfrm>
            <a:off x="1297500" y="525000"/>
            <a:ext cx="70389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2BE2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</a:rPr>
              <a:t>Firewall Rule Optimizer</a:t>
            </a:r>
            <a:endParaRPr b="1" sz="4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2BE2"/>
              </a:buClr>
              <a:buSzPts val="4400"/>
              <a:buFont typeface="Calibri"/>
              <a:buNone/>
            </a:pPr>
            <a:r>
              <a:rPr b="1" lang="en-US" sz="4400"/>
              <a:t>(FireOpt)</a:t>
            </a:r>
            <a:endParaRPr b="1" sz="4400"/>
          </a:p>
        </p:txBody>
      </p:sp>
      <p:sp>
        <p:nvSpPr>
          <p:cNvPr id="136" name="Google Shape;136;p1"/>
          <p:cNvSpPr txBox="1"/>
          <p:nvPr/>
        </p:nvSpPr>
        <p:spPr>
          <a:xfrm>
            <a:off x="1159356" y="3125022"/>
            <a:ext cx="7315200" cy="28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Tool for Enhancing Firewall Efficiency and Security</a:t>
            </a:r>
            <a:endParaRPr b="0" i="1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b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Presented by: James Gichia(P01/0010/2022)</a:t>
            </a:r>
            <a:b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BSc. Computer Science </a:t>
            </a:r>
            <a:b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"/>
          <p:cNvSpPr txBox="1"/>
          <p:nvPr>
            <p:ph type="title"/>
          </p:nvPr>
        </p:nvSpPr>
        <p:spPr>
          <a:xfrm>
            <a:off x="1297500" y="525000"/>
            <a:ext cx="7038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2BE2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</a:rPr>
              <a:t>Introduction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914400" y="1828800"/>
            <a:ext cx="75957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Firewalls are critical for network security.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 time, firewall rule sets grow in complexity.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Large rule sets can cause: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AutoNum type="alphaLcPeriod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Slow packet filtering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AutoNum type="alphaLcPeriod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Redundant or shadowed rules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AutoNum type="alphaLcPeriod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 gaps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Firewall Rule Optimizer automates analysis and optimization.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 txBox="1"/>
          <p:nvPr>
            <p:ph type="title"/>
          </p:nvPr>
        </p:nvSpPr>
        <p:spPr>
          <a:xfrm>
            <a:off x="332264" y="546667"/>
            <a:ext cx="85206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2BE2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</a:rPr>
              <a:t>Project Objectives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914400" y="1828800"/>
            <a:ext cx="7315200" cy="3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 redundant and shadowed firewall rules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Identify conflicts in rule sets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Optimize rule ordering for performance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 clear, actionable reports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Provide an easy-to-use tool for network administrators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type="title"/>
          </p:nvPr>
        </p:nvSpPr>
        <p:spPr>
          <a:xfrm>
            <a:off x="1297500" y="525000"/>
            <a:ext cx="7038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2BE2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</a:rPr>
              <a:t>Problem Statement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914400" y="1828800"/>
            <a:ext cx="73152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Organizations often have large and unmanaged firewall rule sets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rule management is time-consuming and error-prone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Redundant or conflicting rules can slow networks and weaken security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❖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There is a need for an automated, efficient tool to optimize firewall rules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>
            <p:ph type="title"/>
          </p:nvPr>
        </p:nvSpPr>
        <p:spPr>
          <a:xfrm>
            <a:off x="1297500" y="525000"/>
            <a:ext cx="7038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2BE2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</a:rPr>
              <a:t>Literature Review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914400" y="1828800"/>
            <a:ext cx="73152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Existing tools: FireMon, AlgoSec, Firewall Builder.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Limitations: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○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Often commercial and costly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○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Complex, difficult for small organizations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focus: Detecting anomalies and optimizing firewall policies.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❖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 project adapts these concepts in a lightweight, open-source solution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type="title"/>
          </p:nvPr>
        </p:nvSpPr>
        <p:spPr>
          <a:xfrm>
            <a:off x="1297500" y="525000"/>
            <a:ext cx="7038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2BE2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</a:rPr>
              <a:t>Methodology</a:t>
            </a:r>
            <a:endParaRPr b="1" sz="4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2BE2"/>
              </a:buClr>
              <a:buSzPts val="4400"/>
              <a:buFont typeface="Calibri"/>
              <a:buNone/>
            </a:pPr>
            <a:r>
              <a:rPr b="1" i="1" lang="en-US" sz="1377"/>
              <a:t>Iterative (</a:t>
            </a:r>
            <a:r>
              <a:rPr b="1" i="1" lang="en-US" sz="1377"/>
              <a:t>computational experimental</a:t>
            </a:r>
            <a:r>
              <a:rPr b="1" i="1" lang="en-US" sz="1377"/>
              <a:t> design)</a:t>
            </a:r>
            <a:endParaRPr b="1" i="1" sz="1377"/>
          </a:p>
        </p:txBody>
      </p:sp>
      <p:sp>
        <p:nvSpPr>
          <p:cNvPr id="171" name="Google Shape;171;p6"/>
          <p:cNvSpPr txBox="1"/>
          <p:nvPr/>
        </p:nvSpPr>
        <p:spPr>
          <a:xfrm>
            <a:off x="872450" y="2185900"/>
            <a:ext cx="73152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Input: Exported firewall rule sets (e.g., iptables)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Parsing: Convert rules into structured format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Analysis: Detect redundant, shadowed, and conflicting rules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Optimization: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AutoNum type="alphaLcPeriod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Reorder rules for efficiency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AutoNum type="alphaLcPeriod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Merge similar rules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AutoNum type="alphaLcPeriod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Suggest removal of redundant rules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Reporting: Generate before/after comparison and summary report in a user friendly GUI environment </a:t>
            </a:r>
            <a:b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>
            <p:ph type="title"/>
          </p:nvPr>
        </p:nvSpPr>
        <p:spPr>
          <a:xfrm>
            <a:off x="311700" y="180343"/>
            <a:ext cx="85206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2BE2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</a:rPr>
              <a:t>Conclusion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914405" y="1185906"/>
            <a:ext cx="73152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Firewall Rule Optimizer improves security, performance, and manageability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Reduces human error and increases network efficiency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❖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improvements include: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★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Integrate live monitoring with SIEM tools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★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Integration with AI(Machine learning) for efficiency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/>
          <p:nvPr>
            <p:ph type="title"/>
          </p:nvPr>
        </p:nvSpPr>
        <p:spPr>
          <a:xfrm>
            <a:off x="1297500" y="525000"/>
            <a:ext cx="7038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2BE2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</a:rPr>
              <a:t>References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914400" y="1828800"/>
            <a:ext cx="73152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Al-Shaer, E., &amp; Hamed, H. (2004). Discovery of Policy Anomalies in Distributed Firewalls. IEEE INFOCOM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FireMon, Firewall Management Solutions, </a:t>
            </a: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https://www.firemon.com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AlgoSec, Firewall Policy Management, </a:t>
            </a: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https://www.algosec.com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Stallings, W. (2020). Network Security Essentials, 6th Edition.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