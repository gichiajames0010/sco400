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Firewall Rule Optimizer</a:t>
            </a:r>
          </a:p>
          <a:p>
            <a:pPr>
              <a:defRPr sz="2400"/>
            </a:pPr>
            <a:r>
              <a:t>Enhancing Network Security through Intelligent Rule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Student: James Gichia (P01/0010/2022)</a:t>
            </a:r>
          </a:p>
          <a:p>
            <a:r>
              <a:rPr sz="2000"/>
              <a:t>Supervisor: Dr. Elijah Maseno</a:t>
            </a:r>
          </a:p>
          <a:p>
            <a:r>
              <a:rPr sz="2000"/>
              <a:t>Mama Ngina University College</a:t>
            </a:r>
          </a:p>
          <a:p>
            <a:r>
              <a:rPr sz="2000"/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Firewalls form the essential first line of network defense by filtering traffic.</a:t>
            </a:r>
          </a:p>
          <a:p>
            <a:pPr>
              <a:defRPr sz="2200"/>
            </a:pPr>
            <a:r>
              <a:rPr sz="2000"/>
              <a:t>As networks scale, maintaining manual iptables/nftables lists becomes overwhelming.</a:t>
            </a:r>
          </a:p>
          <a:p>
            <a:pPr>
              <a:defRPr sz="2200"/>
            </a:pPr>
            <a:r>
              <a:rPr sz="2000"/>
              <a:t>Manual administration invariably produces human errors and misconfigurations.</a:t>
            </a:r>
          </a:p>
          <a:p>
            <a:pPr>
              <a:defRPr sz="2200"/>
            </a:pPr>
            <a:r>
              <a:rPr sz="2000"/>
              <a:t>Key anomalies include redundant rules, shadowed logic, and conflicting policies.</a:t>
            </a:r>
          </a:p>
          <a:p>
            <a:pPr>
              <a:defRPr sz="2200"/>
            </a:pPr>
            <a:r>
              <a:rPr sz="2000"/>
              <a:t>This project developed an automated tool to parse configurations, detect these anomalies, and mathematically optimize the ruleset.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Tracking thousands of firewall rules manually introduces silent security voids.</a:t>
            </a:r>
          </a:p>
          <a:p>
            <a:pPr>
              <a:defRPr sz="2200"/>
            </a:pPr>
            <a:r>
              <a:rPr sz="2000"/>
              <a:t>Administrators routinely miss shadowed or completely redundant boundaries.</a:t>
            </a:r>
          </a:p>
          <a:p>
            <a:pPr>
              <a:defRPr sz="2200"/>
            </a:pPr>
            <a:r>
              <a:rPr sz="2000"/>
              <a:t>Conflicting policies can accidentally block legitimate traffic or leave critical internal services exposed to external exploitation.</a:t>
            </a:r>
          </a:p>
          <a:p>
            <a:pPr>
              <a:defRPr sz="2200"/>
            </a:pPr>
            <a:r>
              <a:rPr sz="2000"/>
              <a:t>The inability to visualize rule intersections leads to degraded network performance and severe vulnerability to malicious breaches.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Traditional Solutions:</a:t>
            </a:r>
          </a:p>
          <a:p>
            <a:pPr lvl="1">
              <a:defRPr sz="2200"/>
            </a:pPr>
            <a:r>
              <a:rPr sz="2000"/>
              <a:t> - Enterprise systems (AlgoSec, FireMon) are highly robust but cost-prohibitive for SMEs.</a:t>
            </a:r>
          </a:p>
          <a:p>
            <a:pPr lvl="1">
              <a:defRPr sz="2200"/>
            </a:pPr>
            <a:r>
              <a:rPr sz="2000"/>
              <a:t> - Academic implementations (FIREMAN) offer solid static analysis but lack modern accessible interfaces.</a:t>
            </a:r>
          </a:p>
          <a:p>
            <a:pPr>
              <a:defRPr sz="2200"/>
            </a:pPr>
            <a:r>
              <a:rPr sz="2000"/>
              <a:t>Research Gap:</a:t>
            </a:r>
          </a:p>
          <a:p>
            <a:pPr lvl="1">
              <a:defRPr sz="2200"/>
            </a:pPr>
            <a:r>
              <a:rPr sz="2000"/>
              <a:t> - A strong necessity exists for an open-source, mathematically rigorous tool.</a:t>
            </a:r>
          </a:p>
          <a:p>
            <a:pPr lvl="1">
              <a:defRPr sz="2200"/>
            </a:pPr>
            <a:r>
              <a:rPr sz="2000"/>
              <a:t> - The solution must seamlessly parse both legacy iptables formats and modern, nested nftables syntaxes via a unified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Development Framework:</a:t>
            </a:r>
          </a:p>
          <a:p>
            <a:pPr lvl="1">
              <a:defRPr sz="2200"/>
            </a:pPr>
            <a:r>
              <a:rPr sz="2000"/>
              <a:t> - Iterative Systems Development Life Cycle (SDLC) model.</a:t>
            </a:r>
          </a:p>
          <a:p>
            <a:pPr>
              <a:defRPr sz="2200"/>
            </a:pPr>
            <a:r>
              <a:rPr sz="2000"/>
              <a:t>Data Collection:</a:t>
            </a:r>
          </a:p>
          <a:p>
            <a:pPr lvl="1">
              <a:defRPr sz="2200"/>
            </a:pPr>
            <a:r>
              <a:rPr sz="2000"/>
              <a:t> - Structured questionnaires targeting 30 IT professionals.</a:t>
            </a:r>
          </a:p>
          <a:p>
            <a:pPr lvl="1">
              <a:defRPr sz="2200"/>
            </a:pPr>
            <a:r>
              <a:rPr sz="2000"/>
              <a:t> - Deep document analysis of 25 real-world firewall configuration samples.</a:t>
            </a:r>
          </a:p>
          <a:p>
            <a:pPr>
              <a:defRPr sz="2200"/>
            </a:pPr>
            <a:r>
              <a:rPr sz="2000"/>
              <a:t>Analytical Model:</a:t>
            </a:r>
          </a:p>
          <a:p>
            <a:pPr lvl="1">
              <a:defRPr sz="2200"/>
            </a:pPr>
            <a:r>
              <a:rPr sz="2000"/>
              <a:t> - Built on multidimensional discrete set theory and intersection geometry.</a:t>
            </a:r>
          </a:p>
          <a:p>
            <a:pPr>
              <a:defRPr sz="2200"/>
            </a:pPr>
            <a:r>
              <a:rPr sz="2000"/>
              <a:t>Core Technologies:</a:t>
            </a:r>
          </a:p>
          <a:p>
            <a:pPr lvl="1">
              <a:defRPr sz="2200"/>
            </a:pPr>
            <a:r>
              <a:rPr sz="2000"/>
              <a:t> - Backend: Python (Algorithms), Django REST Framework, SQLite.</a:t>
            </a:r>
          </a:p>
          <a:p>
            <a:pPr lvl="1">
              <a:defRPr sz="2200"/>
            </a:pPr>
            <a:r>
              <a:rPr sz="2000"/>
              <a:t> - Frontend: React.js, TypeScript, TailwindCSS.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Functional Requirements:</a:t>
            </a:r>
          </a:p>
          <a:p>
            <a:pPr lvl="1">
              <a:defRPr sz="2200"/>
            </a:pPr>
            <a:r>
              <a:rPr sz="2000"/>
              <a:t> - Automatic dialect resolution between iptables and nftables strings.</a:t>
            </a:r>
          </a:p>
          <a:p>
            <a:pPr lvl="1">
              <a:defRPr sz="2200"/>
            </a:pPr>
            <a:r>
              <a:rPr sz="2000"/>
              <a:t> - Unified mapping of networking data (protocols, IPs, ports, actions).</a:t>
            </a:r>
          </a:p>
          <a:p>
            <a:pPr lvl="1">
              <a:defRPr sz="2200"/>
            </a:pPr>
            <a:r>
              <a:rPr sz="2000"/>
              <a:t> - Autonomous sweeps for Redundancy, Shadowing, and Conflicts.</a:t>
            </a:r>
          </a:p>
          <a:p>
            <a:pPr lvl="1">
              <a:defRPr sz="2200"/>
            </a:pPr>
            <a:r>
              <a:rPr sz="2000"/>
              <a:t> - Programmatic generation of clean, deployment-ready configurations.</a:t>
            </a:r>
          </a:p>
          <a:p>
            <a:pPr>
              <a:defRPr sz="2200"/>
            </a:pPr>
            <a:r>
              <a:rPr sz="2000"/>
              <a:t>Non-Functional Requirements:</a:t>
            </a:r>
          </a:p>
          <a:p>
            <a:pPr lvl="1">
              <a:defRPr sz="2200"/>
            </a:pPr>
            <a:r>
              <a:rPr sz="2000"/>
              <a:t> - Strict algorithmic efficiency (sub-3-second latency for 500 rules).</a:t>
            </a:r>
          </a:p>
          <a:p>
            <a:pPr lvl="1">
              <a:defRPr sz="2200"/>
            </a:pPr>
            <a:r>
              <a:rPr sz="2000"/>
              <a:t> - User-friendly Single Page Application (SPA) dashboard without complex setups.</a:t>
            </a:r>
          </a:p>
          <a:p>
            <a:pPr lvl="1">
              <a:defRPr sz="2200"/>
            </a:pPr>
            <a:r>
              <a:rPr sz="2000"/>
              <a:t> - Decoupled backend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3-Tier Client-Server Architecture:</a:t>
            </a:r>
          </a:p>
          <a:p>
            <a:pPr lvl="1">
              <a:defRPr sz="2200"/>
            </a:pPr>
            <a:r>
              <a:rPr sz="2000"/>
              <a:t> - Presentation Tier: React.js ensuring rapid Interface DOM updates.</a:t>
            </a:r>
          </a:p>
          <a:p>
            <a:pPr lvl="1">
              <a:defRPr sz="2200"/>
            </a:pPr>
            <a:r>
              <a:rPr sz="2000"/>
              <a:t> - Application Tier: Django serving as the pure stateless API bridge to the algorithms.</a:t>
            </a:r>
          </a:p>
          <a:p>
            <a:pPr lvl="1">
              <a:defRPr sz="2200"/>
            </a:pPr>
            <a:r>
              <a:rPr sz="2000"/>
              <a:t> - Data Tier: SQLite managing historical session logs locally and securely.</a:t>
            </a:r>
          </a:p>
          <a:p>
            <a:pPr>
              <a:defRPr sz="2200"/>
            </a:pPr>
            <a:r>
              <a:rPr sz="2000"/>
              <a:t>Universal Data Model:</a:t>
            </a:r>
          </a:p>
          <a:p>
            <a:pPr lvl="1">
              <a:defRPr sz="2200"/>
            </a:pPr>
            <a:r>
              <a:rPr sz="2000"/>
              <a:t> - The internal 'FirewallRule' Python dataclass normalizes wildly different syntaxes.</a:t>
            </a:r>
          </a:p>
          <a:p>
            <a:pPr>
              <a:defRPr sz="2200"/>
            </a:pPr>
            <a:r>
              <a:rPr sz="2000"/>
              <a:t>Intersection Logic:</a:t>
            </a:r>
          </a:p>
          <a:p>
            <a:pPr lvl="1">
              <a:defRPr sz="2200"/>
            </a:pPr>
            <a:r>
              <a:rPr sz="2000"/>
              <a:t> - Deep nested O(n²) loops leveraging strict bitwise mathematical boundary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Environment:</a:t>
            </a:r>
          </a:p>
          <a:p>
            <a:pPr lvl="1">
              <a:defRPr sz="2200"/>
            </a:pPr>
            <a:r>
              <a:rPr sz="2000"/>
              <a:t> - Constructed using Visual Studio Code; formatted with Black and ESLint.</a:t>
            </a:r>
          </a:p>
          <a:p>
            <a:pPr>
              <a:defRPr sz="2200"/>
            </a:pPr>
            <a:r>
              <a:rPr sz="2000"/>
              <a:t>Rigorous Validation:</a:t>
            </a:r>
          </a:p>
          <a:p>
            <a:pPr lvl="1">
              <a:defRPr sz="2200"/>
            </a:pPr>
            <a:r>
              <a:rPr sz="2000"/>
              <a:t> - Unit-tested with pytest against intense boundary edge cases.</a:t>
            </a:r>
          </a:p>
          <a:p>
            <a:pPr lvl="1">
              <a:defRPr sz="2200"/>
            </a:pPr>
            <a:r>
              <a:rPr sz="2000"/>
              <a:t> - Executed complete end-to-end integration mapping over real-world enterprise rule sets.</a:t>
            </a:r>
          </a:p>
          <a:p>
            <a:pPr>
              <a:defRPr sz="2200"/>
            </a:pPr>
            <a:r>
              <a:rPr sz="2000"/>
              <a:t>Deployment Strategy:</a:t>
            </a:r>
          </a:p>
          <a:p>
            <a:pPr lvl="1">
              <a:defRPr sz="2200"/>
            </a:pPr>
            <a:r>
              <a:rPr sz="2000"/>
              <a:t> - Recommended 'Parallel Running Technique' to bridge administrative confidence before full automation switch-overs.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Limitations, Recommendations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Limitations:</a:t>
            </a:r>
          </a:p>
          <a:p>
            <a:pPr lvl="1">
              <a:defRPr sz="2200"/>
            </a:pPr>
            <a:r>
              <a:rPr sz="2000"/>
              <a:t> - Time constraints restricted parsing of excessively nested, bleeding-edge nftables dictionaries.</a:t>
            </a:r>
          </a:p>
          <a:p>
            <a:pPr lvl="1">
              <a:defRPr sz="2200"/>
            </a:pPr>
            <a:r>
              <a:rPr sz="2000"/>
              <a:t> - Obfuscated access to massive-scale (10k+ rules) corporate data due to strict privacy walls.</a:t>
            </a:r>
          </a:p>
          <a:p>
            <a:pPr>
              <a:defRPr sz="2200"/>
            </a:pPr>
            <a:r>
              <a:rPr sz="2000"/>
              <a:t>Recommendations:</a:t>
            </a:r>
          </a:p>
          <a:p>
            <a:pPr lvl="1">
              <a:defRPr sz="2200"/>
            </a:pPr>
            <a:r>
              <a:rPr sz="2000"/>
              <a:t> - Establish scheduled, mandatory automated integrity audits across all gateways.</a:t>
            </a:r>
          </a:p>
          <a:p>
            <a:pPr lvl="1">
              <a:defRPr sz="2200"/>
            </a:pPr>
            <a:r>
              <a:rPr sz="2000"/>
              <a:t> - Evolve the engine to manage stateful Deep Packet Inspection validations.</a:t>
            </a:r>
          </a:p>
          <a:p>
            <a:pPr>
              <a:defRPr sz="2200"/>
            </a:pPr>
            <a:r>
              <a:rPr sz="2000"/>
              <a:t>Conclusions:</a:t>
            </a:r>
          </a:p>
          <a:p>
            <a:pPr lvl="1">
              <a:defRPr sz="2200"/>
            </a:pPr>
            <a:r>
              <a:rPr sz="2000"/>
              <a:t> - The Optimizer effectively eliminates the manual operations bottleneck.</a:t>
            </a:r>
          </a:p>
          <a:p>
            <a:pPr lvl="1">
              <a:defRPr sz="2200"/>
            </a:pPr>
            <a:r>
              <a:rPr sz="2000"/>
              <a:t> - Accurately models and eradicates network vulnerabilities in milliseconds.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rPr sz="2000"/>
              <a:t>Al-Shaer, E. S., &amp; Hamed, H. H. (2004). Discovery of policy anomalies in distributed firewalls.</a:t>
            </a:r>
          </a:p>
          <a:p>
            <a:pPr>
              <a:defRPr sz="2200"/>
            </a:pPr>
            <a:r>
              <a:rPr sz="2000"/>
              <a:t>Cheswick, W. R., Bellovin, S. M., &amp; Rubin, A. D. (2003). Firewalls and Internet security: Repelling the wily hacker.</a:t>
            </a:r>
          </a:p>
          <a:p>
            <a:pPr>
              <a:defRPr sz="2200"/>
            </a:pPr>
            <a:r>
              <a:rPr sz="2000"/>
              <a:t>Liu, A. X., Gouda, M. G., &amp; Hamed, H. H. (2011). Firewall policy anomalies and optimization: A survey.</a:t>
            </a:r>
          </a:p>
          <a:p>
            <a:pPr>
              <a:defRPr sz="2200"/>
            </a:pPr>
            <a:r>
              <a:rPr sz="2000"/>
              <a:t>Netfilter Core Team. (2025). The netfilter.org project.</a:t>
            </a:r>
          </a:p>
          <a:p>
            <a:pPr>
              <a:defRPr sz="2200"/>
            </a:pPr>
            <a:r>
              <a:rPr sz="2000"/>
              <a:t>Django Software Foundation. (2025). Django REST Framework - Web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